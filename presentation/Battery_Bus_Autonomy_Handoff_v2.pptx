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f92fe160f408c" /><Relationship Type="http://schemas.openxmlformats.org/officeDocument/2006/relationships/extended-properties" Target="/docProps/app.xml" Id="Ra694a919681948ee" /><Relationship Type="http://schemas.openxmlformats.org/officeDocument/2006/relationships/officeDocument" Target="/ppt/presentation.xml" Id="Re55d446c2a42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ce8dc08bd4386"/>
  </p:sldMasterIdLst>
  <p:notesMasterIdLst>
    <p:notesMasterId xmlns:r="http://schemas.openxmlformats.org/officeDocument/2006/relationships" r:id="R7622b98219164e53"/>
  </p:notesMasterIdLst>
  <p:sldIdLst>
    <p:sldId xmlns:r="http://schemas.openxmlformats.org/officeDocument/2006/relationships" id="256" r:id="R4c00d392347b403d"/>
    <p:sldId xmlns:r="http://schemas.openxmlformats.org/officeDocument/2006/relationships" id="257" r:id="Ra56ef8e7ec944a94"/>
    <p:sldId xmlns:r="http://schemas.openxmlformats.org/officeDocument/2006/relationships" id="258" r:id="R52a7e6a195994286"/>
    <p:sldId xmlns:r="http://schemas.openxmlformats.org/officeDocument/2006/relationships" id="259" r:id="R585d4e7d626c458b"/>
    <p:sldId xmlns:r="http://schemas.openxmlformats.org/officeDocument/2006/relationships" id="260" r:id="R7fb035b1a1384358"/>
    <p:sldId xmlns:r="http://schemas.openxmlformats.org/officeDocument/2006/relationships" id="261" r:id="R55f5222215354662"/>
    <p:sldId xmlns:r="http://schemas.openxmlformats.org/officeDocument/2006/relationships" id="262" r:id="R65ff680365c4409b"/>
    <p:sldId xmlns:r="http://schemas.openxmlformats.org/officeDocument/2006/relationships" id="263" r:id="Ra1badb2070cb4fc5"/>
    <p:sldId xmlns:r="http://schemas.openxmlformats.org/officeDocument/2006/relationships" id="264" r:id="R4b11baf013ea43f9"/>
    <p:sldId xmlns:r="http://schemas.openxmlformats.org/officeDocument/2006/relationships" id="265" r:id="Rca90654900aa49df"/>
    <p:sldId xmlns:r="http://schemas.openxmlformats.org/officeDocument/2006/relationships" id="266" r:id="R7bd4ea79a6174def"/>
    <p:sldId xmlns:r="http://schemas.openxmlformats.org/officeDocument/2006/relationships" id="267" r:id="R1980a8228f7b4510"/>
    <p:sldId xmlns:r="http://schemas.openxmlformats.org/officeDocument/2006/relationships" id="268" r:id="Rc3691698bdcd49ca"/>
    <p:sldId xmlns:r="http://schemas.openxmlformats.org/officeDocument/2006/relationships" id="269" r:id="R4404a209845044e2"/>
    <p:sldId xmlns:r="http://schemas.openxmlformats.org/officeDocument/2006/relationships" id="270" r:id="Re445cd9534374226"/>
    <p:sldId xmlns:r="http://schemas.openxmlformats.org/officeDocument/2006/relationships" id="271" r:id="R83b35440cdfa40a4"/>
    <p:sldId xmlns:r="http://schemas.openxmlformats.org/officeDocument/2006/relationships" id="272" r:id="Re1533df936534aa3"/>
    <p:sldId xmlns:r="http://schemas.openxmlformats.org/officeDocument/2006/relationships" id="273" r:id="R28eb188e6eef40a9"/>
    <p:sldId xmlns:r="http://schemas.openxmlformats.org/officeDocument/2006/relationships" id="274" r:id="R283f4b0d2b914b0b"/>
    <p:sldId xmlns:r="http://schemas.openxmlformats.org/officeDocument/2006/relationships" id="275" r:id="R84a1ad1daab54811"/>
    <p:sldId xmlns:r="http://schemas.openxmlformats.org/officeDocument/2006/relationships" id="276" r:id="R3f0269834bd44854"/>
    <p:sldId xmlns:r="http://schemas.openxmlformats.org/officeDocument/2006/relationships" id="277" r:id="R1136e7f33dff4df9"/>
    <p:sldId xmlns:r="http://schemas.openxmlformats.org/officeDocument/2006/relationships" id="278" r:id="R74fabb7d6a5449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9f49e73f44e80" /><Relationship Type="http://schemas.openxmlformats.org/officeDocument/2006/relationships/slideMaster" Target="/ppt/slideMasters/slideMaster1.xml" Id="R7cdce8dc08bd4386" /><Relationship Type="http://schemas.openxmlformats.org/officeDocument/2006/relationships/notesMaster" Target="/ppt/notesMasters/notesMaster1.xml" Id="R7622b98219164e53" /><Relationship Type="http://schemas.openxmlformats.org/officeDocument/2006/relationships/presProps" Target="/ppt/presProps.xml" Id="R54d7fa43b04d4d92" /><Relationship Type="http://schemas.openxmlformats.org/officeDocument/2006/relationships/tableStyles" Target="/ppt/tableStyles.xml" Id="Reb7d934c1fde4465" /><Relationship Type="http://schemas.openxmlformats.org/officeDocument/2006/relationships/slide" Target="/ppt/slides/slide1.xml" Id="R4c00d392347b403d" /><Relationship Type="http://schemas.openxmlformats.org/officeDocument/2006/relationships/slide" Target="/ppt/slides/slide2.xml" Id="Ra56ef8e7ec944a94" /><Relationship Type="http://schemas.openxmlformats.org/officeDocument/2006/relationships/slide" Target="/ppt/slides/slide3.xml" Id="R52a7e6a195994286" /><Relationship Type="http://schemas.openxmlformats.org/officeDocument/2006/relationships/slide" Target="/ppt/slides/slide4.xml" Id="R585d4e7d626c458b" /><Relationship Type="http://schemas.openxmlformats.org/officeDocument/2006/relationships/slide" Target="/ppt/slides/slide5.xml" Id="R7fb035b1a1384358" /><Relationship Type="http://schemas.openxmlformats.org/officeDocument/2006/relationships/slide" Target="/ppt/slides/slide6.xml" Id="R55f5222215354662" /><Relationship Type="http://schemas.openxmlformats.org/officeDocument/2006/relationships/slide" Target="/ppt/slides/slide7.xml" Id="R65ff680365c4409b" /><Relationship Type="http://schemas.openxmlformats.org/officeDocument/2006/relationships/slide" Target="/ppt/slides/slide8.xml" Id="Ra1badb2070cb4fc5" /><Relationship Type="http://schemas.openxmlformats.org/officeDocument/2006/relationships/slide" Target="/ppt/slides/slide9.xml" Id="R4b11baf013ea43f9" /><Relationship Type="http://schemas.openxmlformats.org/officeDocument/2006/relationships/slide" Target="/ppt/slides/slide10.xml" Id="Rca90654900aa49df" /><Relationship Type="http://schemas.openxmlformats.org/officeDocument/2006/relationships/slide" Target="/ppt/slides/slide11.xml" Id="R7bd4ea79a6174def" /><Relationship Type="http://schemas.openxmlformats.org/officeDocument/2006/relationships/slide" Target="/ppt/slides/slide12.xml" Id="R1980a8228f7b4510" /><Relationship Type="http://schemas.openxmlformats.org/officeDocument/2006/relationships/slide" Target="/ppt/slides/slide13.xml" Id="Rc3691698bdcd49ca" /><Relationship Type="http://schemas.openxmlformats.org/officeDocument/2006/relationships/slide" Target="/ppt/slides/slide14.xml" Id="R4404a209845044e2" /><Relationship Type="http://schemas.openxmlformats.org/officeDocument/2006/relationships/slide" Target="/ppt/slides/slide15.xml" Id="Re445cd9534374226" /><Relationship Type="http://schemas.openxmlformats.org/officeDocument/2006/relationships/slide" Target="/ppt/slides/slide16.xml" Id="R83b35440cdfa40a4" /><Relationship Type="http://schemas.openxmlformats.org/officeDocument/2006/relationships/slide" Target="/ppt/slides/slide17.xml" Id="Re1533df936534aa3" /><Relationship Type="http://schemas.openxmlformats.org/officeDocument/2006/relationships/slide" Target="/ppt/slides/slide18.xml" Id="R28eb188e6eef40a9" /><Relationship Type="http://schemas.openxmlformats.org/officeDocument/2006/relationships/slide" Target="/ppt/slides/slide19.xml" Id="R283f4b0d2b914b0b" /><Relationship Type="http://schemas.openxmlformats.org/officeDocument/2006/relationships/slide" Target="/ppt/slides/slide20.xml" Id="R84a1ad1daab54811" /><Relationship Type="http://schemas.openxmlformats.org/officeDocument/2006/relationships/slide" Target="/ppt/slides/slide21.xml" Id="R3f0269834bd44854" /><Relationship Type="http://schemas.openxmlformats.org/officeDocument/2006/relationships/slide" Target="/ppt/slides/slide22.xml" Id="R1136e7f33dff4df9" /><Relationship Type="http://schemas.openxmlformats.org/officeDocument/2006/relationships/slide" Target="/ppt/slides/slide23.xml" Id="R74fabb7d6a54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0d7b528f346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cee61dd624bb7" /><Relationship Type="http://schemas.openxmlformats.org/officeDocument/2006/relationships/notesMaster" Target="/ppt/notesMasters/notesMaster1.xml" Id="Rf4620b03677a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a82f2614c42b7" /><Relationship Type="http://schemas.openxmlformats.org/officeDocument/2006/relationships/notesMaster" Target="/ppt/notesMasters/notesMaster1.xml" Id="Ra0ab4318a9eb46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37f534f07b4744" /><Relationship Type="http://schemas.openxmlformats.org/officeDocument/2006/relationships/notesMaster" Target="/ppt/notesMasters/notesMaster1.xml" Id="Re4a14a3970ac43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c3abaf1b94fbc" /><Relationship Type="http://schemas.openxmlformats.org/officeDocument/2006/relationships/notesMaster" Target="/ppt/notesMasters/notesMaster1.xml" Id="Rb1b5bd2c9bf4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bfd7c8ab714a42" /><Relationship Type="http://schemas.openxmlformats.org/officeDocument/2006/relationships/notesMaster" Target="/ppt/notesMasters/notesMaster1.xml" Id="Rb0ec85793bb5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15305b047c461c" /><Relationship Type="http://schemas.openxmlformats.org/officeDocument/2006/relationships/notesMaster" Target="/ppt/notesMasters/notesMaster1.xml" Id="Re8d5cdafa394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db94accb654a78" /><Relationship Type="http://schemas.openxmlformats.org/officeDocument/2006/relationships/notesMaster" Target="/ppt/notesMasters/notesMaster1.xml" Id="Rf4e9db8baa4441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65691e150e450b" /><Relationship Type="http://schemas.openxmlformats.org/officeDocument/2006/relationships/notesMaster" Target="/ppt/notesMasters/notesMaster1.xml" Id="R86278e7078ff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14b6bcb4047c5" /><Relationship Type="http://schemas.openxmlformats.org/officeDocument/2006/relationships/notesMaster" Target="/ppt/notesMasters/notesMaster1.xml" Id="Rc54ea0c9ad7d4d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657533dc514f59" /><Relationship Type="http://schemas.openxmlformats.org/officeDocument/2006/relationships/notesMaster" Target="/ppt/notesMasters/notesMaster1.xml" Id="Rd24790d4276247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8fc04054c44a07" /><Relationship Type="http://schemas.openxmlformats.org/officeDocument/2006/relationships/notesMaster" Target="/ppt/notesMasters/notesMaster1.xml" Id="R4e7a3923bcd747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ee1e041d84da8" /><Relationship Type="http://schemas.openxmlformats.org/officeDocument/2006/relationships/notesMaster" Target="/ppt/notesMasters/notesMaster1.xml" Id="R6089158630684e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12134b1cf4481a" /><Relationship Type="http://schemas.openxmlformats.org/officeDocument/2006/relationships/notesMaster" Target="/ppt/notesMasters/notesMaster1.xml" Id="R0b80cae861aa48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5c4c51821a42c9" /><Relationship Type="http://schemas.openxmlformats.org/officeDocument/2006/relationships/notesMaster" Target="/ppt/notesMasters/notesMaster1.xml" Id="Ra6973b55d1334b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77fe6ee22748a0" /><Relationship Type="http://schemas.openxmlformats.org/officeDocument/2006/relationships/notesMaster" Target="/ppt/notesMasters/notesMaster1.xml" Id="Rff620bb3e1aa45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a24082c06a4f10" /><Relationship Type="http://schemas.openxmlformats.org/officeDocument/2006/relationships/notesMaster" Target="/ppt/notesMasters/notesMaster1.xml" Id="R8b796d2892214f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a942dd1e764aa6" /><Relationship Type="http://schemas.openxmlformats.org/officeDocument/2006/relationships/notesMaster" Target="/ppt/notesMasters/notesMaster1.xml" Id="R0423c0656de44d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d6ef06c96546b1" /><Relationship Type="http://schemas.openxmlformats.org/officeDocument/2006/relationships/notesMaster" Target="/ppt/notesMasters/notesMaster1.xml" Id="R404f2f2e9e674e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77ea1b97824262" /><Relationship Type="http://schemas.openxmlformats.org/officeDocument/2006/relationships/notesMaster" Target="/ppt/notesMasters/notesMaster1.xml" Id="R5042e30c827749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e4a181e2ce4925" /><Relationship Type="http://schemas.openxmlformats.org/officeDocument/2006/relationships/notesMaster" Target="/ppt/notesMasters/notesMaster1.xml" Id="R265f44f620dc40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84c796116e4533" /><Relationship Type="http://schemas.openxmlformats.org/officeDocument/2006/relationships/notesMaster" Target="/ppt/notesMasters/notesMaster1.xml" Id="R12eb10000bca47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030bfffc3b4928" /><Relationship Type="http://schemas.openxmlformats.org/officeDocument/2006/relationships/notesMaster" Target="/ppt/notesMasters/notesMaster1.xml" Id="R332a5148a2b24c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84e6099a794dbb" /><Relationship Type="http://schemas.openxmlformats.org/officeDocument/2006/relationships/notesMaster" Target="/ppt/notesMasters/notesMaster1.xml" Id="R50bd0dafba64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05fb8f699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2741b919c45b6" /><Relationship Type="http://schemas.openxmlformats.org/officeDocument/2006/relationships/slideLayout" Target="/ppt/slideLayouts/slideLayout1.xml" Id="R0eb3cb8a57d44c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3cb8a57d44c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00ac1d234585" /><Relationship Type="http://schemas.openxmlformats.org/officeDocument/2006/relationships/notesSlide" Target="/ppt/notesSlides/notesSlide1.xml" Id="R2acc26558bd4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68480102c4301" /><Relationship Type="http://schemas.openxmlformats.org/officeDocument/2006/relationships/notesSlide" Target="/ppt/notesSlides/notesSlide2.xml" Id="R7e3e0ea23bb5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310a9407248c6" /><Relationship Type="http://schemas.openxmlformats.org/officeDocument/2006/relationships/notesSlide" Target="/ppt/notesSlides/notesSlide3.xml" Id="Rfc2d055d86ad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cdf8f14a44d8" /><Relationship Type="http://schemas.openxmlformats.org/officeDocument/2006/relationships/notesSlide" Target="/ppt/notesSlides/notesSlide4.xml" Id="Reb0693c99bc9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57e3fdc374308" /><Relationship Type="http://schemas.openxmlformats.org/officeDocument/2006/relationships/notesSlide" Target="/ppt/notesSlides/notesSlide5.xml" Id="R5b9090b8b3f6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32839879b4482" /><Relationship Type="http://schemas.openxmlformats.org/officeDocument/2006/relationships/notesSlide" Target="/ppt/notesSlides/notesSlide6.xml" Id="R0a783b46311f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c422dc5f4c26" /><Relationship Type="http://schemas.openxmlformats.org/officeDocument/2006/relationships/notesSlide" Target="/ppt/notesSlides/notesSlide7.xml" Id="Ref82a170f4664c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e717ecf7e4b92" /><Relationship Type="http://schemas.openxmlformats.org/officeDocument/2006/relationships/notesSlide" Target="/ppt/notesSlides/notesSlide8.xml" Id="Ra8bc32eb12fa4d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10797eeed422a" /><Relationship Type="http://schemas.openxmlformats.org/officeDocument/2006/relationships/notesSlide" Target="/ppt/notesSlides/notesSlide9.xml" Id="Rd213d05ad503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0805cd3614999" /><Relationship Type="http://schemas.openxmlformats.org/officeDocument/2006/relationships/notesSlide" Target="/ppt/notesSlides/notesSlide10.xml" Id="R3dc53ca03edf42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6184708f4e89" /><Relationship Type="http://schemas.openxmlformats.org/officeDocument/2006/relationships/notesSlide" Target="/ppt/notesSlides/notesSlide11.xml" Id="R8c0695f3875e4d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f38ef0c04c6b" /><Relationship Type="http://schemas.openxmlformats.org/officeDocument/2006/relationships/notesSlide" Target="/ppt/notesSlides/notesSlide12.xml" Id="R63f19c65346b41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3eaa3778431b" /><Relationship Type="http://schemas.openxmlformats.org/officeDocument/2006/relationships/notesSlide" Target="/ppt/notesSlides/notesSlide13.xml" Id="R405fe1a09fb048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0b2a473c44577" /><Relationship Type="http://schemas.openxmlformats.org/officeDocument/2006/relationships/notesSlide" Target="/ppt/notesSlides/notesSlide14.xml" Id="R2020a2e830404f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a3dbe68bb46e7" /><Relationship Type="http://schemas.openxmlformats.org/officeDocument/2006/relationships/notesSlide" Target="/ppt/notesSlides/notesSlide15.xml" Id="R084f7f4ead854d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f308bd3eb45da" /><Relationship Type="http://schemas.openxmlformats.org/officeDocument/2006/relationships/notesSlide" Target="/ppt/notesSlides/notesSlide16.xml" Id="R7a281ecebafd43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37828c90448e" /><Relationship Type="http://schemas.openxmlformats.org/officeDocument/2006/relationships/image" Target="/ppt/media/image.png" Id="Raba62fac182b4a17" /><Relationship Type="http://schemas.openxmlformats.org/officeDocument/2006/relationships/notesSlide" Target="/ppt/notesSlides/notesSlide17.xml" Id="Rbed2a78a03054d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2135a49094185" /><Relationship Type="http://schemas.openxmlformats.org/officeDocument/2006/relationships/image" Target="/ppt/media/image2.png" Id="R562f3cb298264f4f" /><Relationship Type="http://schemas.openxmlformats.org/officeDocument/2006/relationships/notesSlide" Target="/ppt/notesSlides/notesSlide18.xml" Id="R30450f14111a45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f906ff0e5477a" /><Relationship Type="http://schemas.openxmlformats.org/officeDocument/2006/relationships/image" Target="/ppt/media/image3.png" Id="R62cff945b295407e" /><Relationship Type="http://schemas.openxmlformats.org/officeDocument/2006/relationships/notesSlide" Target="/ppt/notesSlides/notesSlide19.xml" Id="Ra1c386c9725247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7e7b0c7bb44cd" /><Relationship Type="http://schemas.openxmlformats.org/officeDocument/2006/relationships/notesSlide" Target="/ppt/notesSlides/notesSlide20.xml" Id="R4552aab928bd4c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c8c4287624ecd" /><Relationship Type="http://schemas.openxmlformats.org/officeDocument/2006/relationships/notesSlide" Target="/ppt/notesSlides/notesSlide21.xml" Id="Rf908a3ddae2d41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11089ae0430b" /><Relationship Type="http://schemas.openxmlformats.org/officeDocument/2006/relationships/notesSlide" Target="/ppt/notesSlides/notesSlide22.xml" Id="R4978c98ae5e248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ccbbdf84e469f" /><Relationship Type="http://schemas.openxmlformats.org/officeDocument/2006/relationships/notesSlide" Target="/ppt/notesSlides/notesSlide23.xml" Id="R2b9ecb1513454c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EA4A0-5387-4913-945A-B33C7C3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F187C-12F6-49EB-B821-AC84C00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D24E-9FD1-440E-9F9A-CD1109E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TECHNICAL HANDOFF · 17 AUG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65F6C-C297-4F3F-951C-B6226E0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574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Battery-Bus Autonomous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177B-C00F-4121-8888-4E69C522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 architecture, operating tutorial, control layers, and recorded baseline-versus-LLM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31531-B59A-4AD8-AAA1-52DA7E82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90600"/>
            <a:ext cx="0" cy="485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681E-2919-4FAF-AE10-0DACA48A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0590F-0A57-4109-B268-7575E4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192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92000-21FA-4FA7-8568-27C0809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3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E6C8B-8E94-4B23-858C-2F3E1CC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2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Supervisory LLM → grid state machine → converter/plant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4A977-318B-49AA-B2C0-D672EF9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49D09-72AE-418A-BE6A-437340D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BF0BF-FFD7-4FA1-A0CA-1440FA9B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120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4E5AE-A8A2-4D8D-B73D-F27BA6CD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3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Matched deterministic and guarded LLM/UDP trial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5DFEE-DC97-4C9F-9D73-A3EFFBE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8CC76-90D7-4EC4-BB99-FCF0F30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89B83-F7A1-4B74-97CB-05CBCE0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1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5B69-DEBE-4F3B-BAD4-9BA4EBB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00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3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Malformed response handled without loss of bus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98CA8-EFBA-47C8-B2CF-08AE7FC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Prepared for transfer to a new owner and machine</a:t>
            </a:r>
          </a:p>
        </p:txBody>
      </p:sp>
    </p:spTree>
    <p:extLst>
      <p:ext uri="{BB962C8B-B14F-4D97-AF65-F5344CB8AC3E}">
        <p14:creationId xmlns:p14="http://schemas.microsoft.com/office/powerpoint/2010/main" val="1177391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366DB-9474-4D62-BAA5-B134660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handoff package is organized around three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2766-3494-46CE-9B11-47A7EB1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 it to run the system, understand the implementation, and reproduce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4D43C-D406-4A79-B1D6-42967F2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3BF2-2EB2-4232-AEAE-2DBD615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F51F8-BD10-4A52-B0A3-F10F22F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9F500-2244-4A75-A14B-D4A5CB9E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D31B9-E789-41BD-A1FE-74FA5F0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3EB2B-F187-4BE9-858F-A1885CA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3B18-B335-44C8-AD9B-ED242FF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Neutral launchers create the environment, start the GUI or CLI, execute an offline smoke test, and launch the full MATLAB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DEF3D-54F7-46AD-91F5-36C6339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BC80-C245-4BE6-A9F0-C891E3C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D4AAD-9812-4462-99EE-0ACBF30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ACDAA-76F6-42A9-A922-3E098BE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PROJECT_MAP.md and this deck connect the assistant loop, DT runner, Python guard, UDP contract, and Simulink controller.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FEDFB-B184-4A4A-81B3-BE5B7DC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82FA-EE43-41A2-9F24-9778C3D8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AB765-349A-4CAD-B32C-3737928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865C2-2125-41C3-9AB4-5ACB40C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3124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delivered models, raw CSV/JSONL logs, timing samples, plots, and experiment scripts support a repeatable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8E956-10CB-4E9D-B5C5-C97FCB6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163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493B3-DC39-43A2-8E72-1AD3A145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00B5D-1627-4FC0-9FC2-6127225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43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03BC1-C1E2-4A8E-827F-487C2BA4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578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1E1EB-1215-42A4-B031-496B4F3E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43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including raw trial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32620-AA8D-4FC1-91E9-3AC65F4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57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5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No working files moved</a:t>
            </a:r>
          </a:p>
        </p:txBody>
      </p:sp>
    </p:spTree>
    <p:extLst>
      <p:ext uri="{BB962C8B-B14F-4D97-AF65-F5344CB8AC3E}">
        <p14:creationId xmlns:p14="http://schemas.microsoft.com/office/powerpoint/2010/main" val="900558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46AC08-1373-44C8-9A0B-79A1ED32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02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codebase supports conversation and controlled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5736-B42E-4D4D-8944-0B6D120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general assistant and the MATLAB comparison share the DT runner and local model endpoint.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97164-E1F5-47D3-B314-8FEF773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17AB3-D95E-4BC5-842F-D1A5412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168C-AD1A-4F0E-A09F-9F4009F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500DD-53B3-4F5E-A110-ED6CC3D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F9C8E-00AD-4C09-8CC1-57E9DDC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0717-D195-4B66-BEF8-3B0626BC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144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GENERAL 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46093-276B-4B96-913E-2648327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76375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5C8EE-A79D-4FC7-8C00-330C1FB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14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MATCHED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B7B45-43AA-462F-95CB-89D6ECBA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C0111-97C9-454B-BC78-6DCF5FE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09124-8F5B-4A61-B0F9-4BD220C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User / GUI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9782-71E9-4F19-BC27-C9B02BA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assistant_gui.py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79AEC-012E-44CF-A105-03EB7DC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0BD39-EB56-4857-A29F-565A4ED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5769-D85B-45CD-A075-4BD38DC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8970-8019-4A0E-B377-C7DCF235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prompt + memory + RAG +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26A5D-C371-4413-917C-12781A1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BE4D9-2A01-475D-AEAC-577CB0A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37AD3-85F1-4F44-87FA-0CC2A3BC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91746-0B87-4953-BBD0-8FF2CF4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2F40A-641B-4865-A4D5-AE6C73FE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MATLAB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2BFF3A-6960-43C9-9C85-5185413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run_full_comparison.m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495A6-10BD-468F-B31C-87835925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648D9-6367-4F36-8006-A856AEB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FF4B9-45EF-4F29-A8F9-B0DEF95B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47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Paced plant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6B9B8-CC62-4743-A49F-0C2EC27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574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two 120 s model cases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CF691-FFAD-4B89-A67A-614B8E9F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63F6F-60FF-445D-8C20-9E1DF2C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DDEBB-6635-409F-941A-45DAE98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E54EF-B84E-4DD6-AEA3-9C00D8A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Shared autonomy 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D8921-8974-45F5-BB90-786C9F6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7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run_dt_runner.py  ·  policy.py  ·  constraints.py  ·  udp_backend.py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A79541-7BF9-4A65-87B4-6164D4D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002A9-3A19-4C14-9278-8010C81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289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4A7D1-A729-482F-ADF6-153DB9F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4529C-0807-44C9-B1D6-D900441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43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LM Studio · port 1234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1D3B20-96CE-47BF-9DC0-75FE4808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2AA01-543C-417D-A83B-EBD939C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43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Simulink · UDP 55000/55001</a:t>
            </a:r>
          </a:p>
        </p:txBody>
      </p:sp>
    </p:spTree>
    <p:extLst>
      <p:ext uri="{BB962C8B-B14F-4D97-AF65-F5344CB8AC3E}">
        <p14:creationId xmlns:p14="http://schemas.microsoft.com/office/powerpoint/2010/main" val="1941471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9B692-A053-474A-BB73-CC88F30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package keeps stable internals and adds clear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DC8B-8DD4-4276-8820-8038096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tested model filenames are intentionally retained; the outer structure is deployment-oriented.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C02B9-A8E2-4FFE-A6DD-B7A14F9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70727-5161-40BF-A54C-001F56A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408A4-C395-4941-A21B-EF5E4FF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EE48-D287-46E4-9219-A4A1CD5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1C459-7907-41E7-82EC-6B0560A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2768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BatteryBus_Autonomy_Handoff_20260817/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README_START_HERE.md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assistant_gui.py  ·  assistant_cli.py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setup_environment.bat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run_offline_smoke_test.bat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run_matlab_comparison.bat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Modules/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Core · Prompt · RAG · Tools · GUI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Digital_Twins/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├─ runner · policy · guards · UDP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├─ 3 tested SLX variants + original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└─ comparison_experiment/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results/comparison/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raw data · timing · LLM trace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figures/ PNG + PDF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research/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└─ presentation/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9CB9-5DE4-4C2C-B994-1D83E5B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972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78B9-3ACD-47B9-96A7-B0FAF11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A1895-19FE-4EFE-BA0A-0FDA03C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57812-8D72-4A4F-9CD8-FF3494D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README_START_HERE.md points a new owner to setup, smoke testing, the GUI, and the MATLAB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B10E3-9804-4C9A-980F-4EAC49F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972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A2891-2C0F-41EF-B6EC-5E8A095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14C4-EB31-4AFC-B26B-DE1D08D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Compatibility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87083-6166-439A-AA37-90934AC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legacy “DT_enviroment” spelling remains inside model filenames because scripts and compiled references were tested with those names.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B86C9-11CE-4D1F-9D4E-099D41C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972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66F02-E739-4568-86A6-109237A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4F6AE-B4C0-41A1-AAD1-FEEA312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Deliberately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9A400-3273-4A37-9B06-B9C0DB22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455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Virtual environments, build caches, autosaves, duplicate models, archived packages, and the 124 MB paper library are not part of this deployment copy.</a:t>
            </a:r>
          </a:p>
        </p:txBody>
      </p:sp>
    </p:spTree>
    <p:extLst>
      <p:ext uri="{BB962C8B-B14F-4D97-AF65-F5344CB8AC3E}">
        <p14:creationId xmlns:p14="http://schemas.microsoft.com/office/powerpoint/2010/main" val="195867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725D2A-5541-45F9-B308-16FD1EC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user request becomes a bounded tool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F8B41-6452-4628-A878-2E6598E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LLM can choose a tool and parameters, but the runner and control layers determine what is actually applied.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1D5E-D075-4933-9FF0-710C16E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581E-839C-4B84-B498-BB8AA459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928D-1340-4673-BCC0-ECFDA30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9630C-B314-4023-8048-2557584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A587-FA6D-4AB4-82CD-8F7B036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08C0-FD2E-4883-B2B9-1DD706E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E6BEF-4B69-489D-BC15-4BF6F0C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84C4A-7021-4E9E-9B57-B036584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3B5DE-14DD-4E42-AD4A-CE4B1AB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E10F-8B9A-4BF5-BA5A-59F247F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C6392-7193-4937-BB46-8E1478E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A6343-51C3-49AB-8300-110BC10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37BC5-9A77-4F79-B3B3-C340D0B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00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5ADC4-3FA7-4357-9326-01093816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669C-C82A-45AD-BA1C-4AECD05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C0FA3-F900-47DD-A3EE-09FD1ED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66426-BF63-4728-8B19-30CEF88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CLI or GUI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AC722-A728-4807-932C-FCBC281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2EFCC-3943-41BF-A207-40C4987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A6A0E-6FF2-41E1-9843-F9C0F3C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738E1-E0F3-4819-BAE4-D89A6DC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memory +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A876C-FC1B-4A02-B494-D7DD7FCC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36A91-D13C-45AC-ADF0-1A5C5ED8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B1BC2-EA54-44F4-BB5C-0F01B5C9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Tool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A6B1F-A039-46DB-96E5-DAA1D9B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tool_catalog.py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7C751-6968-4566-9C29-4A605DCB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D66F5-F059-4327-AF5B-7A8E64D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BECDE-13CA-4889-B309-F96A3DA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DT 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90C9E-EFE0-4DB6-9A2E-AD1600D7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tool_runner.py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EDC2B-B9DE-4829-88E4-5E22A888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5774B-2536-4AA6-904D-CD52238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0C6E1-79B4-48B0-A116-0B8DBA3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Guarded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47B5C-FBCF-41EB-903C-C29D820D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runner + constraints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D7D61-F3A6-41BB-B0F4-D8292FB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9A2A9-1ADD-4309-A200-6EA5D92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002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BE4839-46DB-4EC8-B553-9D67D3D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7241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C275A-82F7-4E60-BA7D-C509D6B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099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status + artifacts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903701-6848-40A5-93D7-76CE3D8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0172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ED33A9-B7D9-4F4E-B94C-C0E15476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Key separation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E5AF2B-7DA1-4B3F-AE92-7DF5D5AA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conversational model can initiate run_autonomous_DT, but it does not write directly to the converter. The standalone mission runner logs every proposal, guard adjustment, applied command, and fallback.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DE0099-5A2A-47C2-806D-B820343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907AAE-E010-4C83-A616-7FFF43F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FB15FF-374E-477C-91CF-538DB49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B0F17-E477-45A2-A479-EA4D9CAC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Tool call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094F97-830D-45AB-9B29-F32F3A8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414D71-91E6-4ABE-B7C4-331BD16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6105B6-6039-4A76-8071-28F391ED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F1664-835D-446E-B679-F7DF95EA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57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436094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16FB1C-2019-445F-A5AB-2A29088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6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Autonomous mode is a closed loop with an explicit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76C20-FCBA-4A8E-A5E8-6122C37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Telemetry, supervisory intent, local enforcement, and evidence are separate objects.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002DC-AED4-4AB4-B645-302CE9F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CA39-EC6F-479F-8D40-07B0B3F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AA0A-F1F6-4C3E-BAA8-3498812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D9254-F4F2-4447-BEFE-8FCA0815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5DC2F-D448-4BCF-98B1-968697B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ECE32-5153-4837-A7A2-6D3F962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09FF6-1153-4452-9B94-DE083C7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3FFDF-44DC-45AF-9F5E-02FCE9A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8E388-0A34-4891-BBCD-EC841AE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65B6D-5E65-4E39-A2AB-9FFF254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FE327-7011-4351-A993-A41173EF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63998-47DD-40C5-BD33-D615E05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0427D-5C22-4896-9712-05CE989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718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30C70-F5EF-4C4A-9162-D1758EBB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A01C0-488F-47BF-A0DF-6AF4B6F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0A251-AD6B-4BB6-8E49-10934D4B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E0828-B4AD-4080-80B8-4474AFF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time · SOC · Vbus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load · source · faults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D3065-2896-4776-94E7-03C80B7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F950-5257-4E2F-81B1-213B2AA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75A84-4438-45EF-B5A3-84A1237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1B2F8-21B0-4B3D-A8E0-3B24D7C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 + watts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reason +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288EA-999B-4BEB-A09B-1D4A74F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2D7E0-0061-4231-B5CD-50ACC92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FBF55-74EC-4130-8B91-951628B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8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3B65D-5AE4-44B6-B966-9F60940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schema · limits · slew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headroom · low-SOC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CA3BE-97F2-4E4D-97B5-DDBDA53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956DF-FEC2-4AE8-9B1A-72C18D7E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30BF4-1611-4EE9-B81C-B6694C8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UDP command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C9CF4-B7B3-4823-954D-081E877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compact JSON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sequence + validity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9A199-E676-4D88-8C0B-CA65359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3B213C-F07B-4C64-B617-2C32117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CFFB9D-13A8-4B2F-A9AC-895DE2CA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Local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7F5E8-DAEA-41FF-A0A5-5FA78A60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state + final P ref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stale-command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819BA-ABCA-4E43-BEF5-EE969C23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343150"/>
            <a:ext cx="1676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34552-352F-4AD3-8C2E-4A74D16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34315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3CBBE-0291-40E3-9804-546D530D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14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F4339B-EF09-4CF7-AFBA-0C0BD33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24175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CSV · report · JSONL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CPU + timing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06D25A-2323-452E-BCA5-4F4DAE6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982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EBE9E-81F3-4A61-A38F-A74590D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convention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355F7F-A6B2-4435-9B7E-1BFAE5E2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+P = battery discharges to the bus   ·   −P = battery charges   ·   HOLD = 0 W   ·   SAFE = disabled / 0 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68C0B9-D205-4B78-9BF2-8F8D8CB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Every layer preserves the raw value it received and the value it passed downstream.</a:t>
            </a:r>
          </a:p>
        </p:txBody>
      </p:sp>
    </p:spTree>
    <p:extLst>
      <p:ext uri="{BB962C8B-B14F-4D97-AF65-F5344CB8AC3E}">
        <p14:creationId xmlns:p14="http://schemas.microsoft.com/office/powerpoint/2010/main" val="1668349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AFBA-D8B9-4926-8F69-C488DC8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Four prerequisites make the package portable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D129-AA72-4E43-8374-DFBBC69D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Install the platform pieces first; the package creates its own Python environment.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A941-94BD-45BD-B84A-5EEEAA2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4C04-C933-490F-B273-A0B0F99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075EC-B01F-46F0-B3A8-AD84CF9D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1A769-1430-4C38-8938-36DA8AE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6980-84BC-4315-9D14-C0F5641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7EB9-792D-4065-B520-1B8F8E1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 · Windows + 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2A640-B1C8-4025-AC3F-22C1A53E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Windows 10/11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Python 3.10+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Internet or cached wheels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Writable package folder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9ABD5-C75B-4F39-9376-53090D0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08A23-58A9-43BF-A7F5-D6AA8C1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EE76-E8F7-49E4-A4F5-A4D2EB3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 · MATLAB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A8143-4FF3-476A-B7C4-0E98ED7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MATLAB + Simulink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Electrical toolboxes used by the model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R2024b was the tested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7330-10A6-4165-A0E2-627B58F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27E60-A513-4FFA-BDE4-9B291DE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6DC28-1CF0-416B-A95F-1426D69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 · LM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82E1B-9290-449D-9FAA-2308DCA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Local server and CLI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downloaded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Tested identifier: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llama-3-groq-8b-tool-use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DD43C-C681-4902-9D07-B14501A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C9BA6-2427-44E5-A6C0-00B5086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DBF73-5916-4790-B51B-9D4096B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 · Local 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FA39B-EDF1-443D-BCFA-05E1183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1234/TCP for the model API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55000/UDP commands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55001/UDP observations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55002/UDP 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A8BD9-26C2-426D-85A5-FF292A9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First command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2DEFD-A20C-4C26-817D-E11DF56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AFB64-BB09-4EA2-BD8E-C24E4ED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setup_environment.bat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E9C39-8B2F-4318-8B68-24EB122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script creates .venv, installs both requirements files, and runs four focused smoke tests.</a:t>
            </a:r>
          </a:p>
        </p:txBody>
      </p:sp>
    </p:spTree>
    <p:extLst>
      <p:ext uri="{BB962C8B-B14F-4D97-AF65-F5344CB8AC3E}">
        <p14:creationId xmlns:p14="http://schemas.microsoft.com/office/powerpoint/2010/main" val="146001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E1B51-AAF9-41B6-9D12-FB2435F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0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five-minute check separates software setup from control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A7033-F114-4E5D-AE52-0DF0D13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Prove the runner and reporting path before opening MATLAB or starting the LLM.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51A9F-9EA9-4F70-A2F7-5DBAEDB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ABAFA-855F-4903-B6A6-28E1F53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6BC2-7532-4BA3-801D-737FD17D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5E75-34D2-4EA9-BF80-F581948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8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95EB3-33DB-4C65-A477-D5528593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0CA87-14D3-4784-95AE-E432191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6E67F-87E6-4944-AAA2-B5431B4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Set 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BFBDB-CF60-440E-A46F-FA241E46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setup_environment.bat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99692-7424-4ED4-A8E0-D52C01B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Expected: .venv + passing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77E5F-AF0B-4237-B54E-378056D5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26E31-077B-4A28-B82D-C28248C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2B421-1206-4210-BEA0-30A9FE7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Smoke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AD66D-9C83-423D-BD50-FE99D7E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run_offline_smoke_test.bat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D44DA-63CD-4A8C-9747-7235473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Expected: CSV + Markdown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54906-E0B2-4576-8A6D-4FA0088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7DF17-0B60-49D7-8E0A-714B98E5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C345B-CA61-46CE-8410-03F6EBC4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F3211-5CDE-43C4-8E0F-B68A781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logs/dt_runner_mock_smoke_report.md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AAB87-6B0E-42E0-92D0-B3F879B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Check command and event timeline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FC98A-1E38-4876-813D-C934EBF4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240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34A17-FB6F-41DC-B04F-53AF86FF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8088B-955B-42A0-B4E8-4973ADEA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62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8C4FA-103F-4056-B2C2-F06F3C8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start_assistant_gui.bat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5F6AA-EC08-43AB-81CD-512969E0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Open the Autonomous DT tab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C42BF-63BB-4C59-9899-4EA94C21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910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1E88DB-6AE7-463F-9372-0525BDB8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102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6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Do not diagnose UDP, Simulink, and model inference at the same time. This staged check gives each failure a clear owner.</a:t>
            </a:r>
          </a:p>
        </p:txBody>
      </p:sp>
    </p:spTree>
    <p:extLst>
      <p:ext uri="{BB962C8B-B14F-4D97-AF65-F5344CB8AC3E}">
        <p14:creationId xmlns:p14="http://schemas.microsoft.com/office/powerpoint/2010/main" val="1117072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80D30-390C-4C20-8286-1EBA7313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 the local state machine before granting supervisory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8930B-E473-4F27-B014-3DC399DA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This model must run on its own; that proves fast control and safety do not depend on the LLM.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3766-EC90-4D1D-B3B7-388DB38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DAAE1-8462-4876-B6CA-2F9CA79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EA1A8-4314-490C-AD20-2CC6C33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B067B-8FAF-44E4-BD09-73F0A7C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0603A-004D-4DA1-A590-7ACD30F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EEAC5-8F94-4AAC-B105-4E56580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28AC9-D001-4B33-AC87-AFD3678A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93756-F7D2-4190-9235-47747DF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C65E5-24D0-4A5F-AF66-3CAB579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SAFE_LOCAL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2A217-869F-4624-BC17-94AE8DE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fault, invalid data, or stale supervisory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790AF-1F8A-4186-B15F-913A2AA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7955D-5EA1-46D2-9CC0-655BD06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FEE5B-854A-4543-9DA4-5F89F08F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BUS_SUPPORT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B4675-5B88-45CC-8EF9-EECB810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bus sag or source deficit receives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34B4E-2C94-42FE-8DE2-3222342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277A4-28FC-4BE4-9EF0-F09C1F4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9D34C-7E48-4B4D-860C-D039477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DFD26-7074-430A-8197-C9C55AD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 request + SOC need + source headroom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00AC5-C8C8-49B2-BDA4-135427FE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81200"/>
            <a:ext cx="22383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BA445-0236-4B01-A8B3-8A6150D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81200"/>
            <a:ext cx="2238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0BBAD-E565-43D8-B08D-E6DE7C3B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52650"/>
            <a:ext cx="1933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36C7-2762-4B26-AFB6-1D3A2DA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62225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nominal default when no higher-priority action applies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3BC03-C97C-450A-A2E3-B806E6C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Priority flows left to right only after each higher-risk condition is ruled 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04B75-8111-4010-94BF-0ED53DC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8B8AD-A1E9-4974-9AE4-1E2CC36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918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run_state_machine_dt_smoke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F4097-705C-43DC-AD9C-6657664A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Model: Modules/Digital_Twins/DT_enviroment_state_machine.slx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8B271-21B5-4317-8AEA-4FC0A9D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Expected: no LLM, no UDP process, no safety stop, and logged local state transitions.</a:t>
            </a:r>
          </a:p>
        </p:txBody>
      </p:sp>
    </p:spTree>
    <p:extLst>
      <p:ext uri="{BB962C8B-B14F-4D97-AF65-F5344CB8AC3E}">
        <p14:creationId xmlns:p14="http://schemas.microsoft.com/office/powerpoint/2010/main" val="1899671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0A8C41-4323-430C-9CA9-8D4CE434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739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MATLAB command rebuilds, runs, measures, and plots both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5-D1CE-40BA-BD88-B7693DA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delivered scripts preserve the original recorded run and write new evidence to a separate folder.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F3A0A-0EF0-4220-A4D9-6A8F34B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2C0DA-94E0-49B2-93B6-02EE8418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TUTORIAL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8ED8D-ED65-4A23-BBC5-310A86C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75AAA-24DE-41BC-ACFF-A830D5C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0391F-2D04-4ADE-964B-F497FDB7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71B1-FACF-418F-ACD2-1D6F1B97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DDDF-A871-44F2-93F6-F900596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91719-B6F3-45BD-81A2-A274017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08B0D-CC5D-49D8-8C5E-F825A99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EF277-E399-4DAC-B4F7-81591B08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D3826-5B70-45A8-BD6A-8ECC28A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4059A-26A1-4B2B-9A6B-C503C0E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91C09-615A-441E-AB96-BAE533F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01B4F-2022-47C0-AE13-A43A913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58FB-6144-43C4-B547-1EFDE1B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two model copies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DAB27-E503-438C-9357-E1C25A9E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DDC66-44A0-4931-BFE5-83DF8C8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7F05D-BDB0-46C5-8189-B6FAA629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D9431-B0D2-4AFD-8F3D-81A2CBF2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headless LM Studio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8A89C-F09E-4A4D-914F-132347E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DABB9-8191-48F7-B786-0B286F8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6BECB-AE4B-42B3-AC17-A2C601D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BF349-C782-411A-8D05-87C3645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120 s paced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D8450-EE67-4D95-96A1-280164FB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228A8-40A7-4B48-BC82-B29A996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DB30F-AAE5-433E-B02B-CB39FF4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LLM/UDP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BA9AB-791A-42E3-919C-FFD18EAC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120 s paced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97A7C-E3CE-404F-B9A1-32CA1C50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1885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9A4D0-A815-485B-9C96-84FCC8B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D7EBC-261C-4401-9C35-A73D4FC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7964B5-A53B-4E1B-B770-78B3FB9F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1937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tables + figures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628FD-A8CB-4654-94CC-182806A6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906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22F04-294E-47C8-A73C-7526D9E1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14800"/>
            <a:ext cx="872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run_matlab_comparison.bat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7A50E-6E04-4F30-829C-A5DADA8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9067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A87611-0320-453F-AE69-5D08131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New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B07CE0-BB4A-4238-9320-070F32F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results/latest_comparison/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421815-7086-4092-A52F-91908456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Recorded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E74C92-ED55-49F5-9B5B-61E39DF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43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results/comparison/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FDB5BB-0532-47A0-BF19-D221CA7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Expect roughly 5 minutes on the tested machine.</a:t>
            </a:r>
          </a:p>
        </p:txBody>
      </p:sp>
    </p:spTree>
    <p:extLst>
      <p:ext uri="{BB962C8B-B14F-4D97-AF65-F5344CB8AC3E}">
        <p14:creationId xmlns:p14="http://schemas.microsoft.com/office/powerpoint/2010/main" val="2074498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4250C-C9D6-4C2D-8351-7DA4D6E2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Autonomous mode works because the time scales are separated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B06D-F234-4059-876F-9433AFF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Each layer has a different decision horizon and a different kind of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C699-A338-4E54-BE78-A1C4D84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7A94-884E-4309-9368-1C9E7BD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9202-7FC9-49DF-84BC-9B3C111B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F4F80-87BC-4CA2-A33D-35FD57C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336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FD89-3C96-41AB-A226-7398A971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3365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FC0E3-097F-480D-B9B7-E9C1DB3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5626B-8814-424E-8422-A3E1BF0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6622B-3A5A-47C8-B40A-9802B160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145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LLM SUPERVISOR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93655-988F-431E-B611-B7BDF646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 s decision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4F421-7355-4F54-B3F4-91C9BB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Chooses an operating intent and requested power from summarized telemetry.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BC8AE-EB99-402A-83CF-A62070A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40ED-6E9B-4379-B807-5256419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C8CB6-339C-4ABA-8CDF-9C84654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76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GRID STATE 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4B2BE-8BD4-4534-BA25-440D6E67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 ms local 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82802-34CC-4D9D-9620-D4873F0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Enforces bus support, charge eligibility, SOC bounds, source headroom, saturation, and stale-command fallback.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CDABB-B11E-4C91-8941-3C9E56EC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0058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FAD45-C37F-4A98-B829-F4F546F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F078B-991E-479F-964C-5053A2D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387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CONVERTER + PLANT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B1109-3C9D-4299-9BDE-B6F0BAD8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fast / continuous dynamics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18582-1AC6-4AEC-85AE-3509E2B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86350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Executes the feasible reference and produces voltage, current, SOC, and power measurements.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38149-34A5-4072-8A24-46265B49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supervisory 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139DD-F0A2-46E4-9C49-9808256E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final local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8EAE7-1721-47FA-BC4A-28DF49F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01E45-A9F7-4D12-B34A-C2FDAE19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43625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LLM is not—and should not be—the fast electrical controller.</a:t>
            </a:r>
          </a:p>
        </p:txBody>
      </p:sp>
    </p:spTree>
    <p:extLst>
      <p:ext uri="{BB962C8B-B14F-4D97-AF65-F5344CB8AC3E}">
        <p14:creationId xmlns:p14="http://schemas.microsoft.com/office/powerpoint/2010/main" val="292904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3CBDC-D851-44D6-9386-7447CB8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local controller owns the final state and power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C5F3E-6319-4AA8-94B8-E4604093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Supervisory intent is treated as one input among live electrical conditions.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99633-D3D8-47FA-8CA1-6CF62DB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D7BF4-258F-4E12-9A04-C823B5F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9C7DE-9BF1-48D1-AA29-A5BD9D51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B7CB9-F004-4449-BD63-DD7C6E6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6EE2-1969-4AFB-A96D-C11CAE9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86D8D-B43C-4AC4-B6EF-8D8C883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08957-92E6-40BF-B41B-D746F3A7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AA276-85C9-461E-A469-C9B394F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8C30-0717-4065-BB50-31714F9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645D7-78A0-4F97-BE5C-69761BE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17AA6-1689-40B4-B275-53237BC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7DC8D-DD54-4E11-B042-2246C51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D26EE-7764-4EA5-9E24-B2721C0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Fault or stale?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38770-E918-4D5A-8ED3-3291B31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3532"/>
                </a:solidFill>
                <a:latin typeface="Arial"/>
                <a:ea typeface="Arial"/>
                <a:cs typeface="Arial"/>
              </a:rPr>
              <a:t>SAFE_LOCAL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044F0-BFD2-448F-9E7A-3E10EAF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B6892-2239-4E35-AF66-DB75FC47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AAFB0-F434-4CEE-B75E-7E687E8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A2C97-2039-4A36-A03F-458533F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Bus/source deficit?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FDE66-3A9B-4879-A194-09A6A72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BUS_SUPPORT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39F9E-1223-484A-B90C-986ACAF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EAE7E-01D7-4313-A34D-05A0E1B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67872-0D5B-4909-9B26-AEFA81E4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007D2-17DC-4448-9D01-690EB6E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 allowed?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DB41C-D0E8-40D7-B33C-02C9E2E7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CHARGE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40BB8-9718-4F83-B66E-1D7121EF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4785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ADD76-8CC4-4EF1-ACED-7A4AF39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79D48-7036-4644-9922-0BA1B44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478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BD388-1788-4C49-A176-06DFE8D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764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Otherwise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70CCD-948F-408A-91D8-559F4C7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575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51AAC-18CA-48FD-A3CD-4E46528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858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EA729-AA16-46C3-9161-D429D757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04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Physical constraints remain deterministic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5BF52-41B0-4D72-940B-B32AD47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SOC window and target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source limit minus 25 W reserve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charge headroom and no-backfeed behavior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7B680-116B-4F4C-89DD-80C15A2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battery power saturation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command validity and age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bus-voltage and instrumentation faults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D60AB-DD7E-4EC4-951E-841C893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BCC0B-5EFF-4008-9E6B-C809B44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Final authority</a:t>
            </a:r>
          </a:p>
        </p:txBody>
      </p:sp>
    </p:spTree>
    <p:extLst>
      <p:ext uri="{BB962C8B-B14F-4D97-AF65-F5344CB8AC3E}">
        <p14:creationId xmlns:p14="http://schemas.microsoft.com/office/powerpoint/2010/main" val="1406650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4730F-740F-40EE-85E1-455409B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7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Each state produces a deterministic battery-power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9CA1C-9A3C-405D-90BE-1E333AB9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LLM requests a mode and magnitude; the 1 ms state controller calculates the reference actually sent onward.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9DBB-B93F-4429-AFE9-87C7383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E251-319D-4CD1-8B9F-1E15FD7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C5FE-2DCE-4BBF-B640-7DF8907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F2D93-CF44-4347-A9DD-D968A0B0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STATE /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BB1CD-4471-48E7-8037-D0EFA74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4351E-C68D-4C97-BACC-E37BC9D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CONTROL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BD983-4347-49AC-86D2-2762B74A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PHYSICAL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9CA54-8BA6-4569-9CF2-635DF85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8E378-AC9E-46E1-A6DF-81C6F0B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0881E-B8AD-46CC-8362-3BE0F2E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3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SAFE_LOCAL  · 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FBD68-CBC1-4906-8E35-389078E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335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Fail closed on invalid telemetry, hard limits, stale/invalid command, or SAFE request.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A17FD-9CA6-4266-B868-EC4FE6C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P_batt_ref = 0 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9B3B0-F2C8-42B8-BA95-B49E4CE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431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 charge or discharge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E9239-870A-4186-AE39-78236D8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F890-A411-4CB9-96E0-78D790C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06382-736C-4186-82ED-23E496C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BUS_SUPPORT  · 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1D71B-6C9F-432C-8E16-A57E4EB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Protect bus voltage and source reserve; may also honor a feasible DISCHARGE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EA95C-BFD7-466E-9BCF-BB40B25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P_ref = clip(max(P_local, P_request), 0, 480 W)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P_local = deficit + 5 e_v + 2 I_v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7D4B1-0944-4061-BA41-8AB52EB7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Positive power: battery discharges into the DC bus.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90D29-53A3-456A-80DD-AEC3AB4B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2F9BA-A4C1-4497-A1A8-970D77D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581A2-8AEE-49A2-9441-39A8AE5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CHARGE  · 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83522-9D92-49DE-BCB2-915B73B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147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Accept a CHARGE request only when SOC, voltage, and source headroom permit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96C93-16CB-4D73-83A5-9BCF2A1C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052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P_ref = -min(|P_request|, headroom, 300 W)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D4620-567E-4B5D-91D3-330608A4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Negative power: bus/source charges the battery.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62F2B-C37B-4CC1-B69A-16AFE91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1678C-611A-4C90-915B-3978F72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2504C-FC5D-40AF-9823-A2D1A52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HOLD  · 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0E8376-30D3-465D-BB1D-49235E6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Default state when neither support nor eligible charging is required.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B185D-F9CC-410D-A65B-B618DE67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9585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P_batt_ref = 0 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B4371-0E73-4149-B590-3456BB1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149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Battery remains neutral.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058530-E44A-432B-9CE1-C27CB3A9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05500"/>
            <a:ext cx="925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83CE0-76CE-4384-96FC-EF2BF4B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91225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Supervisor modes are requests: CHARGE = -1  ·  HOLD = 0  ·  DISCHARGE = +1  ·  SAFE = 99</a:t>
            </a:r>
          </a:p>
        </p:txBody>
      </p:sp>
    </p:spTree>
    <p:extLst>
      <p:ext uri="{BB962C8B-B14F-4D97-AF65-F5344CB8AC3E}">
        <p14:creationId xmlns:p14="http://schemas.microsoft.com/office/powerpoint/2010/main" val="1199667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CD6C21-93BB-4358-9192-AD3DCC3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State switching uses fixed priority and hysteresis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147EF-35AA-4143-B97B-3B7BE3D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controller reevaluates conditions every 1 ms, retains its current state, and changes state only when a listed guard becomes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9074-BA9C-46D7-AC4B-158F1BDF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B71C-A941-4DE9-B5F4-FC11CAD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651B3-2BB7-4DAD-AB4D-0625603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730F2-7360-4DC2-ACB5-FB464DF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934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6B6A0-3FC1-4B17-B15A-F4C9B79A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 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A59F5-8335-4289-A592-33F94C3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43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DECE4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DECE4"/>
                </a:solidFill>
                <a:latin typeface="Consolas"/>
                <a:ea typeface="Consolas"/>
                <a:cs typeface="Consolas"/>
              </a:rPr>
              <a:t>2  BUS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B539C-6E7A-4295-A144-EC29BF0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7F5FC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7F5FC"/>
                </a:solidFill>
                <a:latin typeface="Consolas"/>
                <a:ea typeface="Consolas"/>
                <a:cs typeface="Consolas"/>
              </a:rPr>
              <a:t>3  CHARGE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ABE74-CA1D-421A-BB92-CD4E310F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43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  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6FF39-B9B7-44B7-9441-E0DE6BB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TRANSITION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B0775-8FD8-46B0-A218-FB649CD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CD9CC-40BF-4C7D-955A-9320933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369CD-421A-4CC9-B665-A762E40B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ANY → SAFE_LOCAL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EEA4A-48B9-434F-A778-A82B4E8C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Invalid signal; SOC ≤10% or ≥95%; bus ≤250 V or ≥500 V; invalid command; or SAFE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7B3E2-5A2B-41DC-B252-D885826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EBE32-A3AF-4BFF-9C86-C26671B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98DC5-57E0-4DD8-87F3-B7FD29E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SAFE_LOCAL → 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DBBE7-8637-48C6-9966-55D993A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 the next valid, non-SAFE sample. This creates a deterministic recovery step before other operation.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A51F0-A681-4885-BD68-9AF7646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1903F-8345-4C9F-AEE5-C69C397C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C307B-92D2-442E-9688-7A598ED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HOLD → BUS_SUPPORT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14888-32A7-4C02-98F9-7C8327B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57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Bus ≤397 V, source at limit, nominal load ≥475 W, or supervisor requests DISCHARGE.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4BB46-E11B-4EE5-8A05-0ADE89F9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62946-7A98-4529-8AE5-68F290D1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81507-0B3D-4635-B25E-27BECAC6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HOLD → CHARGE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8C553-1BBC-4A7C-BCED-EACF6435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CHARGE requested, SOC &lt;39.9%, headroom &gt;1 W, and bus ≥399 V.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D88C7-202E-422C-89DF-CD29298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7A1A3-F2D1-443C-87C9-85B905E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B35AE-5232-40D1-905C-B45C1B5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CHARGE → BUS_SUPPORT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DE792-D4C8-47CB-BFB5-0941D49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006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Bus ≤395 V, source at limit, load ≥475 W, or DISCHARGE requested.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623F4-6ABB-4EBC-B377-EBF951F4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A7C8B-BB95-4A8B-B95A-52AF4E8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40B21-1097-4BC6-9D6F-7EC5830B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4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8B5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38B57"/>
                </a:solidFill>
                <a:latin typeface="Consolas"/>
                <a:ea typeface="Consolas"/>
                <a:cs typeface="Consolas"/>
              </a:rPr>
              <a:t>BUS_SUPPORT → CHARGE / HOLD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FBF3D-A6B5-4787-B9CE-FFAD1F7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721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after bus ≥399 V, source clear, load ≤465 W, and no DISCHARGE request; then charge if eligible, else hold.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54FDA-8633-4597-BE3B-47E0837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3909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E990E-B664-4BBF-B631-98B3494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HYSTERESIS LIMITS CHATTER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4E419-CC44-4713-9CEB-E854525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Voltage bands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DE1A7-70E7-4FE7-BF31-CE29A01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A03C9B-BCD8-46DF-A2D8-BF7FD32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F64EBA-7147-446B-82C8-2477B586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7D9FFB-72CF-45F3-AFD6-601FB791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4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243E05-6A6C-46D9-924B-AE9DA57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83532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C83532"/>
                </a:solidFill>
                <a:latin typeface="Consolas"/>
                <a:ea typeface="Consolas"/>
                <a:cs typeface="Consolas"/>
              </a:rPr>
              <a:t>395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A2FA3B-55FA-4103-8762-6AF6DF1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397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3048E4-E8C6-4062-97C7-7D5381CE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38B5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38B57"/>
                </a:solidFill>
                <a:latin typeface="Consolas"/>
                <a:ea typeface="Consolas"/>
                <a:cs typeface="Consolas"/>
              </a:rPr>
              <a:t>399 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F92A62-3CAC-47DD-B506-C17478E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3532"/>
                </a:solidFill>
                <a:latin typeface="Arial"/>
                <a:ea typeface="Arial"/>
                <a:cs typeface="Arial"/>
              </a:rPr>
              <a:t>Charge abort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381F6B-2A6C-47C4-840C-5C91D00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Support enters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DBC44E-0EC6-4308-85F4-6B93E98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862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8B57"/>
                </a:solidFill>
                <a:latin typeface="Arial"/>
                <a:ea typeface="Arial"/>
                <a:cs typeface="Arial"/>
              </a:rPr>
              <a:t>Support clears / charge enters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75078D-5EFE-4CC9-92A6-4F7690D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EBCC53-9394-43A7-9DBF-E3F0C33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Source-reserve band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5DB8F9-56AD-446B-A3D0-89D3084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Enter support at ≥475 W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Clear only at ≤465 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E509D5-A775-49BB-941D-760029C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5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Separate enter/exit thresholds prevent rapid switching.</a:t>
            </a:r>
          </a:p>
        </p:txBody>
      </p:sp>
    </p:spTree>
    <p:extLst>
      <p:ext uri="{BB962C8B-B14F-4D97-AF65-F5344CB8AC3E}">
        <p14:creationId xmlns:p14="http://schemas.microsoft.com/office/powerpoint/2010/main" val="853998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D858A8-9E43-4431-A62D-131D351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proposal passes two deterministic boundaries before actuation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606FD-E58B-4608-8701-7C1587B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Malformed, unsafe, or stale LLM output is converted into a safe, auditable command.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AFC70-6B6D-4EEB-B3DD-58064FF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226E1-62EF-4E51-BB54-897FD87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3DC2-1D03-4EDA-86AB-33526EE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E5BF1-7F42-411A-8D6D-6C868E4F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54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3BEE4-93A7-4FFF-96D7-7A5F57F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598C8-09CE-404C-BAAA-8743049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B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0025E-4433-4AB3-962E-AE065B09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C12C4-C285-4439-9854-A41020A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C12C3-4B87-4C63-AB9C-3C7BD5A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46D2F-891B-4C2D-892A-5A79F3C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4E8C2-3E15-4E22-8AF5-AC53BFB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F8A35-4B38-4A05-9464-73AF7A7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Raw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0F01E-FE4F-4A0D-B396-7DC3CC9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 · watts · reason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21F20-5DBC-46B9-A2E6-FD4B3E7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6CBEC-6C77-49E8-92D4-09256510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063B1-FCDF-4202-A122-C8EB0D5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Schema / 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D3D34-057A-4E07-A437-3F7C56E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 JSON and finite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28477-FB0D-4D6C-BC6F-429BD81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87589-E951-45F0-970A-A34A71E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6022F-5220-4CF6-95D5-1BFEC05E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policy guard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2945F-6D71-473F-A75F-9F4CC28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limits · slew · SOC · headroom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14241-5D4F-4122-B9A5-C35963B5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1431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B08C3-06F4-47B2-9692-4E50A35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9DF24-3CAE-4545-9C3B-E9DD993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3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Simulink state machine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D66E1-2F64-4049-9243-3BB0BFA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62225"/>
            <a:ext cx="1876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conditions override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BCEEE-CDEF-41F3-A091-65FA59C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D1167-9D59-40BF-AC2D-1847B292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431E3C-6545-4CD0-BFAC-51E33DF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Parse failure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3D657-3C2E-4218-AD5F-92D77AB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Record the error, call deterministic fallback, and transmit a bounded command.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C4886-2506-4CE0-B96E-DC222BCA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0DBA9-470B-41B0-AA35-63FD708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DBAB2-F10C-4CF3-9074-7F0D6BF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Unsafe proposal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F909F5-5A54-4626-8265-DE11DF3B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Clamp or replace the request and preserve both raw and guarded values in the audit log.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C75DA-0800-4A5B-A862-29F5BC9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3219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3D34E-1F3E-4BCE-9541-2BA1F41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5DC793-1030-4EA3-B197-93BB9A0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Stale command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B3FAD-4AE9-463B-8854-BE301B70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local state machine enters SAFE_LOCAL after the configured validity window.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D2CC6C-C5D3-410B-9251-C9953D4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UDP telemetry is compact (&lt;512 bytes); full-resolution evidence remains in local files.</a:t>
            </a:r>
          </a:p>
        </p:txBody>
      </p:sp>
    </p:spTree>
    <p:extLst>
      <p:ext uri="{BB962C8B-B14F-4D97-AF65-F5344CB8AC3E}">
        <p14:creationId xmlns:p14="http://schemas.microsoft.com/office/powerpoint/2010/main" val="1199248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A8C3BE-5EB9-4DB3-A27D-7F14149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comparison changes only supervisory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9067C-18F6-4384-82D6-49FE3F54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Plant, load profile, state machine, sample time, limits, and instrumentation are matched.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1A2A-926F-4FB1-8745-066963B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F0470-BC52-4A98-96F4-1CC2E852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A2FC6-551B-486F-BEF7-44EED88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31BD-5C78-4CCE-94A2-91AA03E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22ED-8769-4BC2-A33A-016C0E06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1834F-C1C1-446C-BD96-0E394B66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B687D-B7F0-4EF8-8445-6963BDB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AA17B-BDDC-4624-967A-3D808C1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3C06A-BF31-41E7-B617-5DDD821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96156-FD33-408E-84D0-5601DF6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200 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830FD-7DB1-43F6-B0F8-AC497D6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initial 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EE782-CBAA-471B-AEE7-523955C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DC3E7-28E5-4CEF-8896-9387177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61074-CD4B-4B2E-ADCF-EEC4B149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A26C9-2488-4E94-980C-91093A6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500 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782A2-FF35-4334-AD04-2C9BB7A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 reserve activates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~25 W bus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3ED9D-CFBF-4FA7-824A-B836751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1CD33-6BDF-4B78-9CB2-CD15C09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12E6F-36B0-4F62-A32F-6BF2098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139F4-1874-4338-9072-C02A4EB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600 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4E933-7F9B-4A19-B5DA-9A2C307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clear source deficit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~125 W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0B2A4-12BC-467C-8262-C45E3D8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62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1A6AC-FB2A-4474-8F56-9D2DD31B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38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8B57"/>
                </a:solidFill>
                <a:latin typeface="Arial"/>
                <a:ea typeface="Arial"/>
                <a:cs typeface="Arial"/>
              </a:rPr>
              <a:t>Matched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73BCB-0D65-461A-83BF-997620B9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120 s · 1× pacing · 1 ms local loop · same battery/source/load/measurements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6DAA7D-55ED-42D4-9826-AC52952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51A58-D251-4FB8-BD85-4A7417F8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Baseline: fixed 100 W charge intent from t=0   |   LLM: new guarded intent every 10 s</a:t>
            </a:r>
          </a:p>
        </p:txBody>
      </p:sp>
    </p:spTree>
    <p:extLst>
      <p:ext uri="{BB962C8B-B14F-4D97-AF65-F5344CB8AC3E}">
        <p14:creationId xmlns:p14="http://schemas.microsoft.com/office/powerpoint/2010/main" val="10907759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D2D2E-4364-4CF6-B2C7-43F9058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4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Both cases preserved bus behavior; the main difference was supervision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4E457-9889-4C71-A309-73C2BF16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E6425-9E27-4102-8D8C-AA2F658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0081-E686-4F91-9002-B757C60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11FF6-7363-4775-B4DF-C857136A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8572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62fac182b4a17"/>
          <a:stretch xmlns:a="http://schemas.openxmlformats.org/drawingml/2006/main"/>
        </p:blipFill>
        <p:spPr>
          <a:xfrm xmlns:a="http://schemas.openxmlformats.org/drawingml/2006/main">
            <a:off x="1314928" y="1257300"/>
            <a:ext cx="6971343" cy="487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5CD54-FD26-4DC7-8AF8-B8477DD8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B90F8-1FCE-474C-BEE1-C9811AD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1E651-323C-4BB6-95E9-196C7790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19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7BB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BBE"/>
                </a:solidFill>
                <a:latin typeface="Arial"/>
                <a:ea typeface="Arial"/>
                <a:cs typeface="Arial"/>
              </a:rPr>
              <a:t>0.0853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BE956-81A0-4F1C-9CEF-A9AF8D75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 voltage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518D2-A937-4C64-AF8E-0D962F6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14FE1-8637-4197-B394-1B65746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F5B4-4C0F-4DA4-8FA5-FCB81FB2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41A"/>
                </a:solidFill>
                <a:latin typeface="Arial"/>
                <a:ea typeface="Arial"/>
                <a:cs typeface="Arial"/>
              </a:rPr>
              <a:t>0.0714 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D577B-8D99-4F19-90E3-914743CC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24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Guarded LLM voltage 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39A9C-8F0D-4936-B837-9EC688A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2343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FC80-2B31-46DD-8815-A9D376C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9E518-C807-413D-8123-5A63A4B8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624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8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−100…125 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032CD-A48E-414C-AA19-E7FD30F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95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Same reference range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EE858-E302-4D99-9494-CED85030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626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835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3532"/>
                </a:solidFill>
                <a:latin typeface="Arial"/>
                <a:ea typeface="Arial"/>
                <a:cs typeface="Arial"/>
              </a:rPr>
              <a:t>Single run; do not treat the RMSE difference as statistical evidence of superiority.</a:t>
            </a:r>
          </a:p>
        </p:txBody>
      </p:sp>
    </p:spTree>
    <p:extLst>
      <p:ext uri="{BB962C8B-B14F-4D97-AF65-F5344CB8AC3E}">
        <p14:creationId xmlns:p14="http://schemas.microsoft.com/office/powerpoint/2010/main" val="2105831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A8D85-F605-4D9E-AAF4-7398E9F5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73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audit trail shows the LLM was interpreted—not blindly followed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70D51-C6A9-44C1-A1EA-5E05069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7EB29-FACE-43FB-8FD4-6BFF126F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C15E1-254A-483E-8CD2-DCA9FE46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C28E-04D9-4B89-9B84-558F423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781050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f3cb298264f4f"/>
          <a:stretch xmlns:a="http://schemas.openxmlformats.org/drawingml/2006/main"/>
        </p:blipFill>
        <p:spPr>
          <a:xfrm xmlns:a="http://schemas.openxmlformats.org/drawingml/2006/main">
            <a:off x="552450" y="1457586"/>
            <a:ext cx="7734300" cy="449527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9B215-7120-4CA4-A54E-2737740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A2D7-53E1-4902-A2E9-BE981E5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9C967-FB5A-42F8-80E5-1253C350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6103-2319-4EB9-A470-4DEABAC8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LLM proposed DISCHARGE at 250 W. The Python guard sent HOLD; Simulink still supplied ~25 W local bus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1B8F2-3B00-4999-BE54-8F26B8C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70797-D49C-46FE-B965-DF9BF36F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4DB35-A6B5-4457-AF75-1C7E5953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B91DB-DE71-4349-B40C-8812CED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600 W load created a clear deficit. A guarded 100 W request was accepted; local control raised the reference to 125 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656EE-F692-455C-A019-92630E89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3067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76A7B-D9B0-40EE-90D4-79561377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3E0E3-93B7-4EE9-975A-B42AEA4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76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110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7D7ED-4116-4649-B614-07E2DE04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An empty/malformed response triggered one deterministic fallback. Bus support continued without a safety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0F2AF-88CB-450A-A40D-E7D8F98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8102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Raw proposal → guarded command → locally enforced state</a:t>
            </a:r>
          </a:p>
        </p:txBody>
      </p:sp>
    </p:spTree>
    <p:extLst>
      <p:ext uri="{BB962C8B-B14F-4D97-AF65-F5344CB8AC3E}">
        <p14:creationId xmlns:p14="http://schemas.microsoft.com/office/powerpoint/2010/main" val="8572293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AE4CE-1AA7-480C-B77F-9905172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supervision added modest wall time and measurable external CPU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CA94-CE79-4649-AA1C-F529024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DBB0-B2C5-4468-B36B-05F0E75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1974D-AC36-4670-B1DB-CCCC385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1326-B6C4-4124-AE87-8D2A58D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23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ff945b295407e"/>
          <a:stretch xmlns:a="http://schemas.openxmlformats.org/drawingml/2006/main"/>
        </p:blipFill>
        <p:spPr>
          <a:xfrm xmlns:a="http://schemas.openxmlformats.org/drawingml/2006/main">
            <a:off x="552450" y="2010129"/>
            <a:ext cx="7162800" cy="32568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81F0F-7E49-4571-A54C-C9CFF0B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57300"/>
            <a:ext cx="36385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87F8D-C771-4131-9DB7-F055CFD9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Recorded timing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9EF9C-A319-44C6-8744-D15C100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907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BB0A-B627-4E2E-8128-C14F4B9E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D93D2-2390-46EF-9D45-6AD34EF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B7196-E737-496F-BCE2-D585949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38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LLM/UDP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4A4AB-9B7F-449A-A527-42EB8660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Wall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EA2D1-9BFC-493C-B112-253757F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149.26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C6CF0-4630-4A3F-A50A-A5D5A3A2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7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152.94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40293-5526-405A-A525-7B432FF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670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90059-914D-434B-BDE6-1236C71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MATLAB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9AC0D-015F-41F4-9395-F3C88FC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137.38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3459B-2D57-41A2-B0B8-228B672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9146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146.77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DDAEA-7787-4467-BF25-CB44FFA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 CPU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3D7C7-1090-477C-BF76-3570E852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52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14.46%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3FC31-400E-4D93-8B74-B50C60B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352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18.50%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C679D-F626-40D8-AC5A-CC50A18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433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144B8-384F-4EEC-A254-920B2BA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LM Studio CPU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AED69-BD84-4840-B7B3-C9B97A2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90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0.14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CE554-0B99-43AA-9B65-88DA394A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909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15.95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70819-203A-431A-B870-056DCF2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21B78-1899-437D-8AF2-C8AC8B8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29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AE01B-F4A9-43A9-8994-938E817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291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8F0CD-6C1E-4CCF-ADA0-79FBC6F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9625"/>
            <a:ext cx="3295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162E4-B755-4BD1-9FE5-F0740C0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87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Latency mean / p95 (s)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2B1CE-21A7-442B-9587-1B88EAC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672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C4A7C8-5D61-4706-A0B0-0C254CA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6672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857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1.57 / 3.22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2459A-483B-42D8-8DDC-23CFCDD1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Fallbacks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9295A4-421F-4C44-9101-45502E47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05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F2EBB1-83AA-49A7-BB08-12F4328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05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E6541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54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F070B-8440-4B65-B9FF-EA2D2846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Inference work occurs outside MATLAB; system/process sampling is therefore essential.</a:t>
            </a:r>
          </a:p>
        </p:txBody>
      </p:sp>
    </p:spTree>
    <p:extLst>
      <p:ext uri="{BB962C8B-B14F-4D97-AF65-F5344CB8AC3E}">
        <p14:creationId xmlns:p14="http://schemas.microsoft.com/office/powerpoint/2010/main" val="9800780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614F2-D7B0-4ED3-8C04-3E6123E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03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research result is guarded supervisory autonomy—not faster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2BEF-E72D-4046-AC98-00F3A60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local state machine already handled the essential load transitions.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D821-A884-4695-96A1-4083B27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05DA2-9037-4D92-A306-F4120A0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D5FA-F408-442A-8391-985F62D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6B790-8ABD-4E4F-B34D-B5A59B4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C4A2B-8AC5-4DB6-8A88-0893AAA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F6A45-025E-4651-AEAF-D4F2A21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054C0-A007-41D8-8A7E-9D251CD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724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an LLM can propose battery operating modes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deterministic guards can constrain unsafe intent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local control can override supervisory requests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malformed responses can fall back safely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full authority chain can be audited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83301-BA09-4392-BB36-DA3E41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1C8A-9999-4B0B-BFA6-5C4BF3D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FCAEF-D92F-4F70-A528-1C5ADF4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Not demonstrated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B944D-FC7C-4AE7-9662-CB8AA86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724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statistical superiority over classical control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direct high-frequency LLM control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hardware-in-the-loop or physical-system validation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robustness across many loads, SOCs, models, or seeds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certified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C0B90-EC5A-496E-86C4-90C08EB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5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6DCF0-EC47-40A0-8FA0-5BE5E20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1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 paper framing: an auditable interface for LLM supervision across control time scales, with deterministic local authority and fallback.</a:t>
            </a:r>
          </a:p>
        </p:txBody>
      </p:sp>
    </p:spTree>
    <p:extLst>
      <p:ext uri="{BB962C8B-B14F-4D97-AF65-F5344CB8AC3E}">
        <p14:creationId xmlns:p14="http://schemas.microsoft.com/office/powerpoint/2010/main" val="17583861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9BF96-22D4-4220-987F-5ECE94AD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Most failures can be isolated with four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7F057-BB9C-4A82-8CCA-0747988F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 the staged path; avoid changing the agent, network, and model at the same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DE78-6B21-4115-ADB9-17DB48C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17DA3-A382-4282-BB3F-9139531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11EF3-8046-4754-93B6-D888DF1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EDEA-9670-4BDC-9FB2-F4C9C14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1152-541E-4780-9899-1315A8D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6B9BF-B209-4EB3-A2A5-28C0AEC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83B7-6716-4F05-9D15-3407C2F4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Simulink running? Ports 55000/55001 aligned? One listener? Firewall allowed?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1FEBE-49D8-481D-9FC3-66833A2D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93F84-8F80-4976-802C-3626F20C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48275-22C4-4EEA-85EF-C69CFB1F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model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0932E-AB17-45E7-B87B-68822A2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Policy=llm? Port 1234 reachable? Identifier matches loaded model? Valid observation arrived?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1CC11-6100-47B9-8D18-18A61F2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D22C4-0F20-4ABC-8A24-C4EB518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10D7A-48D3-4881-B1FE-27689AF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265E2-30CD-4A3C-BABF-4B67CA4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Inspect missing/NaN telemetry, bridge faults, command age, SOC/voltage limits, and model diagnostics.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D3862-468E-4AB1-BEB0-32450AE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5334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7D6F8-EE8D-487C-96C9-0EE80D1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C467F-C213-4B35-81DA-0903430A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Odd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C2CDC-5D54-4649-8F39-8CA9746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Compare raw LLM, guarded UDP, local state, and final reference before tuning thresholds.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B04E6-3610-4525-A83A-1E95E223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90F4F-7CD0-400D-8860-782D4CC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01828"/>
                </a:solidFill>
                <a:latin typeface="Consolas"/>
                <a:ea typeface="Consolas"/>
                <a:cs typeface="Consolas"/>
              </a:rPr>
              <a:t>Operations reference: docs/OPERATIONS_GUIDE.md</a:t>
            </a:r>
          </a:p>
        </p:txBody>
      </p:sp>
    </p:spTree>
    <p:extLst>
      <p:ext uri="{BB962C8B-B14F-4D97-AF65-F5344CB8AC3E}">
        <p14:creationId xmlns:p14="http://schemas.microsoft.com/office/powerpoint/2010/main" val="6406092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AFBA-D8B9-4926-8F69-C488DC8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GUI is reusable across digital twins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D129-AA72-4E43-8374-DFBBC69D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Select a runner and model, then provide only the inputs that the selected digital twin owns.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A941-94BD-45BD-B84A-5EEEAA2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4C04-C933-490F-B273-A0B0F99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GUI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075EC-B01F-46F0-B3A8-AD84CF9D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1A769-1430-4C38-8938-36DA8AE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6980-84BC-4315-9D14-C0F5641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7EB9-792D-4065-B520-1B8F8E1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 ·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2A640-B1C8-4025-AC3F-22C1A53E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Backend + policy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Agent tick + duration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Real-time pacing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CSV +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9ABD5-C75B-4F39-9376-53090D0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08A23-58A9-43BF-A7F5-D6AA8C1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EE76-E8F7-49E4-A4F5-A4D2EB3A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2 · Model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A8143-4FF3-476A-B7C4-0E98ED7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Runner script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file + identifier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DT-specific arguments
Local logic stays in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7330-10A6-4165-A0E2-627B58F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27E60-A513-4FFA-BDE4-9B291DE3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6DC28-1CF0-416B-A95F-1426D69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 · Connection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82E1B-9290-449D-9FAA-2308DCA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UDP hosts + ports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Timeout + resend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Optional reset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Telemetry republish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DD43C-C681-4902-9D07-B14501A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C9BA6-2427-44E5-A6C0-00B5086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DBF73-5916-4790-B51B-9D4096BF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 ·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FA39B-EDF1-443D-BCFA-05E1183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2152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API endpoint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+ sampling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Fallback behavior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JSONL 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A8BD9-26C2-426D-85A5-FF292A9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 control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2DEFD-A20C-4C26-817D-E11DF56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AFB64-BB09-4EA2-BD8E-C24E4ED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Agent request  -&gt;  runner output  -&gt;  local control  -&gt;  DT 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E9C39-8B2F-4318-8B68-24EB122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Runner-provided summaries keep the display generic; battery defaults can be replaced without rebuilding the GUI.</a:t>
            </a:r>
          </a:p>
        </p:txBody>
      </p:sp>
    </p:spTree>
    <p:extLst>
      <p:ext uri="{BB962C8B-B14F-4D97-AF65-F5344CB8AC3E}">
        <p14:creationId xmlns:p14="http://schemas.microsoft.com/office/powerpoint/2010/main" val="1460016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9225D-42C3-4D3B-B2DB-DCF8B5A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090B6-AD4D-4BF4-9A25-6188CDB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 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A6968-61E9-48C6-80E4-FEECEB39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944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Reproduce first.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Then widen the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B07B8-30CD-4A3A-8F99-3F011E2F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541A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6541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202B-58DD-43F3-82BE-4920821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the smoke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6E595-5641-4304-A984-F4C69DE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Prove the package and reporting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9088A-E294-467F-A9A3-87B4734A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DAE6E-7C33-48D9-91F6-8360D2A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Repeat the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9DB09-22FE-4D5A-B186-1051B23B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Capture versions, seeds, latency, and CPU distributions.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359DE-8194-4146-AD55-5FC949C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C29B5-5A97-40D0-8DBB-EA257AF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Expand scenarios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120C1-9843-4144-862A-BC3BD53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Vary initial SOC, load profiles, faults, and model responses.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198BA-0D62-4E5A-8039-36AEC00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BB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87BB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668A0-E6E1-4064-81FA-1973405F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95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Advance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B2751-3100-4718-94D6-EE7261D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Move to HIL/physical telemetry only after repeatability.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71502-8D1E-407A-A20F-614735D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144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97A5D-A12E-4800-BD15-FDDF0267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430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 handoff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9B639-17B8-42C9-94EC-9477B7F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LLM selects supervisory intent. Deterministic software and the local Simulink controller retain final authority.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F2DBF-6289-4193-BC8D-0DE2B98B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4D217-A69B-4F40-9453-334453F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README_START_HERE.md  ·  PROJECT_MAP.md  ·  results/comparison/  ·  presentation/</a:t>
            </a:r>
          </a:p>
        </p:txBody>
      </p:sp>
    </p:spTree>
    <p:extLst>
      <p:ext uri="{BB962C8B-B14F-4D97-AF65-F5344CB8AC3E}">
        <p14:creationId xmlns:p14="http://schemas.microsoft.com/office/powerpoint/2010/main" val="537410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2026-08-17T18:48:37.5460000Z</dcterms:created>
  <dcterms:modified xsi:type="dcterms:W3CDTF">2026-08-17T18:48:37.5460000Z</dcterms:modified>
</coreProperties>
</file>